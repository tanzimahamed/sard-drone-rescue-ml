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entium Book Plus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4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nzimahamed/SARD-Drone-Rescue-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1789" y="401697"/>
            <a:ext cx="11328117" cy="3069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800" kern="100" spc="-64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S&amp;R-DRONE</a:t>
            </a:r>
            <a:r>
              <a:rPr lang="en-US" sz="4800" kern="100" spc="-64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: A Compact Search-and-Rescue Drone with a Custom Flight Controller, Motor Driver and ML-Based Victim Detection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1789" y="3098800"/>
            <a:ext cx="117599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100" spc="2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PROJECT SYNOPSIS AND PROPOSAL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1789" y="3822249"/>
            <a:ext cx="11328117" cy="2429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600" b="1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TEAM: </a:t>
            </a:r>
          </a:p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600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WALIUL ISLAM NABIL | KHANDAKAR NAFIS HASNAIN RAMI | TANZIM AHAMED | RITU MONY | UMME KULSUM | MD SHAH PARAN | SAAD TALUKDER | MD EHSANUL HOQUE BADHON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600" b="1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PRESENTERS: </a:t>
            </a:r>
            <a:r>
              <a:rPr lang="en-US" sz="1600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RITU MONY | UMME KULSUM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600" b="1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GUIDE:</a:t>
            </a:r>
            <a:r>
              <a:rPr lang="en-US" sz="1600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DIPTO BISWAS | LECTURER (SENIOR SCALE), DEPARTMENT OF ICE, DAFFODIL INTERNATIONAL UNIVERSITY | ID: 71000292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DEPARTMENT OF INFORMATION AND COMMUNICATION ENGINEERING (ICE) | DAFFODIL INTERNATIONAL UNIVERSITY (DIU) | 13 OCT 2026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51620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52194"/>
            <a:ext cx="11277318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Project Overview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966490"/>
            <a:ext cx="11277318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SARDRONE in one line:</a:t>
            </a:r>
            <a:r>
              <a:rPr lang="en-US" sz="1800" dirty="0">
                <a:solidFill>
                  <a:srgbClr val="FFFFFF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A compact quadcopter for first-response search and rescue. It flies on our own electronics and finds people using machine learning.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594" y="2243407"/>
            <a:ext cx="5638659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What we will build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594" y="2783780"/>
            <a:ext cx="5638659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Compact quadcopter frame (under [500] g)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Custom flight controller (IMU + MCU + PID)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Custom motor driver (3-phase BLDC ESC with protection)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Rescue payload (camera + thermal sensor)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ML model for automatic person detection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5798" y="2319486"/>
            <a:ext cx="5638659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How it works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ea typeface="Gentium Book Plus" panose="020B0604020202020204" charset="0"/>
                <a:cs typeface="Times New Roman" panose="02020603050405020304" pitchFamily="18" charset="0"/>
              </a:rPr>
              <a:t>Fly:  IMU-based flight stabilization.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ea typeface="Gentium Book Plus" panose="020B0604020202020204" charset="0"/>
                <a:cs typeface="Times New Roman" panose="02020603050405020304" pitchFamily="18" charset="0"/>
              </a:rPr>
              <a:t>Sense:  Capture camera and thermal data.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ea typeface="Gentium Book Plus" panose="020B0604020202020204" charset="0"/>
                <a:cs typeface="Times New Roman" panose="02020603050405020304" pitchFamily="18" charset="0"/>
              </a:rPr>
              <a:t>Detect:  ML-based person detection.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ea typeface="Gentium Book Plus" panose="020B0604020202020204" charset="0"/>
                <a:cs typeface="Times New Roman" panose="02020603050405020304" pitchFamily="18" charset="0"/>
              </a:rPr>
              <a:t>Alert:  Notify rescuers when detected.</a:t>
            </a:r>
          </a:p>
          <a:p>
            <a:endParaRPr lang="en-US" sz="1700" dirty="0">
              <a:latin typeface="Times New Roman" panose="02020603050405020304" pitchFamily="18" charset="0"/>
              <a:ea typeface="Gentium Book Plus" panose="020B0604020202020204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87000"/>
              </a:lnSpc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6401" y="4743004"/>
            <a:ext cx="1173450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100" spc="-45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Fly → Sense → Detect → Alert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594" y="5606041"/>
            <a:ext cx="11734506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500"/>
              </a:spcAft>
              <a:buNone/>
            </a:pPr>
            <a:r>
              <a:rPr lang="en-US" sz="1700" kern="100" spc="17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10 weeks | 8-member team | Hardware + Firmware + ML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700" b="1" kern="100" spc="17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Output:</a:t>
            </a:r>
            <a:r>
              <a:rPr lang="en-US" sz="1700" kern="100" spc="17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working prototype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31541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31495"/>
            <a:ext cx="11277318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Introduction, Motivation and Context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594" y="1779064"/>
            <a:ext cx="5638659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Why this project?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594" y="2319437"/>
            <a:ext cx="5638659" cy="1727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Floods, earthquakes and landslides trap people in hard-to-reach places.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Manual search is slow, risky and costly.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A human operator can miss a victim in long video feeds.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Commercial drones are expensive and closed-source.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594" y="4240213"/>
            <a:ext cx="5638659" cy="1123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500"/>
              </a:spcAft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5000"/>
              </a:lnSpc>
              <a:spcAft>
                <a:spcPts val="1500"/>
              </a:spcAft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b="1" kern="100" spc="14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Today: Gap → Objectives → Design → Plan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24442" y="2068386"/>
            <a:ext cx="5638659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38243D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Theory we apply → Practice we build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4442" y="2608759"/>
          <a:ext cx="5638660" cy="3731226"/>
        </p:xfrm>
        <a:graphic>
          <a:graphicData uri="http://schemas.openxmlformats.org/drawingml/2006/table">
            <a:tbl>
              <a:tblPr/>
              <a:tblGrid>
                <a:gridCol w="281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Theory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Practice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Quadcopter dynamics, PID control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Stable hover firmware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3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Sensor fusion (Kalman / complementary filter)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Attitude estimation with IMU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BLDC motor commutation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Custom motor driver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17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Deep learning (CNN object detection)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Automatic person detection from camera and thermal images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4298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9848"/>
            <a:ext cx="12191695" cy="44450"/>
          </a:xfrm>
          <a:prstGeom prst="rect">
            <a:avLst/>
          </a:prstGeom>
          <a:solidFill>
            <a:srgbClr val="38243D"/>
          </a:solidFill>
          <a:ln/>
        </p:spPr>
      </p:sp>
      <p:sp>
        <p:nvSpPr>
          <p:cNvPr id="4" name="Text 2"/>
          <p:cNvSpPr/>
          <p:nvPr/>
        </p:nvSpPr>
        <p:spPr>
          <a:xfrm>
            <a:off x="253994" y="280924"/>
            <a:ext cx="1168370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Existing Solutions, Gap and Our Contribution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384399"/>
          <a:ext cx="11277318" cy="3032743"/>
        </p:xfrm>
        <a:graphic>
          <a:graphicData uri="http://schemas.openxmlformats.org/drawingml/2006/table">
            <a:tbl>
              <a:tblPr/>
              <a:tblGrid>
                <a:gridCol w="248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2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2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36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Criterion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Commercial drone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Pixhawk (open-source)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SARDRONE</a:t>
                      </a:r>
                      <a:endParaRPr lang="en-US" sz="20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Cost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High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Medium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Low (target)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Size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Large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Medium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Compact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Customizable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No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Partly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Fully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Hardware design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Closed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Standard board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Our own design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Victim detection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Manual or costly add-on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Not included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Built-in ML model</a:t>
                      </a:r>
                      <a:endParaRPr lang="en-US" sz="170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47320"/>
            <a:ext cx="12191695" cy="6350"/>
          </a:xfrm>
          <a:prstGeom prst="rect">
            <a:avLst/>
          </a:prstGeom>
          <a:solidFill>
            <a:srgbClr val="CFC3D6"/>
          </a:solidFill>
          <a:ln/>
        </p:spPr>
      </p:sp>
      <p:sp>
        <p:nvSpPr>
          <p:cNvPr id="7" name="Text 4"/>
          <p:cNvSpPr/>
          <p:nvPr/>
        </p:nvSpPr>
        <p:spPr>
          <a:xfrm>
            <a:off x="228594" y="4984968"/>
            <a:ext cx="1173450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Our contribution: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A low-cost drone with our own flight controller and motor driver, plus an ML model that detects people automatically, with open design files and dataset for other students.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20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87045"/>
            <a:ext cx="11277318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Objectives and Goals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3783" y="1527643"/>
            <a:ext cx="5343470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Objectives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3783" y="2068016"/>
            <a:ext cx="5343470" cy="246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Design a compact quadcopter frame.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Develop a custom flight controller (IMU + MCU + PID).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Develop a custom motor driver (ESC).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Add camera and thermal sensor for live video.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Train and deploy an ML model for automatic person detection.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Test stability, flight time and detection accuracy.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24442" y="1527643"/>
            <a:ext cx="5638659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Measurable goals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24442" y="2068016"/>
            <a:ext cx="5638659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Weight: under [500] 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Flight time: [10-15] min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Stable hover: within [±___] cm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Detection accuracy: above [85]% (precision and recall)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Detection speed: at least [10] frames per second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3782" y="4934062"/>
            <a:ext cx="11439317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Out of scope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3783" y="5282716"/>
            <a:ext cx="11667912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Fully autonomous flight and auto path planning are future work.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08"/>
            <a:ext cx="12191695" cy="1663510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04825"/>
            <a:ext cx="1127731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400" kern="100" spc="-54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System Architecture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9" y="1275754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Three coordinated chains connect the aircraft, payload and ground station.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ECE448-4EF9-4A71-BC22-AC9B9F3F2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231" y="1759047"/>
            <a:ext cx="8096436" cy="4943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85950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44579"/>
            <a:ext cx="11277318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00" kern="100" spc="-4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Flight Controller, Motor Driver and ML Detection Design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594" y="2133473"/>
            <a:ext cx="3606710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Flight controller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594" y="2673846"/>
            <a:ext cx="3606710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MCU: [STM32 / ESP32]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6-axis IMU, barometer, GPS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Sensor fusion → cascaded PID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Failsafe, return-to-home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Theory: PID + complementary filter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92493" y="2133473"/>
            <a:ext cx="3606710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Motor driver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2493" y="2673846"/>
            <a:ext cx="3606710" cy="2407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3-phase MOSFET bridge + gate driver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Sensorless back-EMF commutation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PWM speed control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Over-current and over-temperature protection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Theory: 6-step BLDC commutation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356391" y="2133473"/>
            <a:ext cx="3606710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ML detection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56391" y="2673846"/>
            <a:ext cx="3606710" cy="3033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Dataset: public datasets (HERIDAL, VisDrone, FLIR thermal) + our own mock-test images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Model: lightweight CNN (YOLO-Nano / MobileNet-SSD)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Train on laptop / Google Colab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Deploy on companion computer (Raspberry Pi Zero 2 W or similar)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Theory: CNN, transfer learning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87324"/>
            <a:ext cx="1087092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b="1" kern="100" spc="-38" dirty="0">
                <a:solidFill>
                  <a:srgbClr val="38243D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Activities, Team and Responsibilities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997112"/>
              </p:ext>
            </p:extLst>
          </p:nvPr>
        </p:nvGraphicFramePr>
        <p:xfrm>
          <a:off x="660383" y="1378148"/>
          <a:ext cx="10870928" cy="4970931"/>
        </p:xfrm>
        <a:graphic>
          <a:graphicData uri="http://schemas.openxmlformats.org/drawingml/2006/table">
            <a:tbl>
              <a:tblPr/>
              <a:tblGrid>
                <a:gridCol w="2562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8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Member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Responsibility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1 [ Nabil , Rami]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Team lead, integration, testing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2 [ Nabil, Ritu]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Frame design (CAD, 3D print)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3 [ Nabil, Kulsum]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Flight controller hardware (schematic, PCB)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4 [ Nabil, Kulsum]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Flight controller firmware (sensor fusion, PID)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5  [ Nabil, Poran]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Motor driver hardware (MOSFET bridge, protection)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6  [ Nabil, Badon 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Motor driver firmware (commutation, PWM)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7  [ Nabil, Rami]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Camera, thermal sensor, video link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8 [Tanzim, Rami ]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ML model (dataset, training, deployment)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9 [ Tanzim, Ritu, Saad] 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entium Book Plus" pitchFamily="34" charset="-122"/>
                          <a:cs typeface="Times New Roman" panose="02020603050405020304" pitchFamily="18" charset="0"/>
                        </a:rPr>
                        <a:t>Documentation and ground station</a:t>
                      </a:r>
                      <a:endParaRPr lang="en-US" sz="1700" dirty="0">
                        <a:latin typeface="Times New Roman" panose="02020603050405020304" pitchFamily="18" charset="0"/>
                        <a:ea typeface="Gentium Book Plus" charset="0"/>
                        <a:cs typeface="Times New Roman" panose="02020603050405020304" pitchFamily="18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0383" y="6548596"/>
            <a:ext cx="1148051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kern="100" spc="15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8 students | Guide: </a:t>
            </a:r>
            <a:r>
              <a:rPr lang="en-US" sz="1400" kern="100" spc="16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DIPTO BISWAS</a:t>
            </a:r>
            <a:r>
              <a:rPr lang="en-US" sz="1500" kern="100" spc="15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| Weekly review meeting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86930"/>
            <a:ext cx="10870928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650" kern="100" spc="-37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Time Frame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0383" y="1352042"/>
            <a:ext cx="11480513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35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10-WEEK GANTT CHART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145338"/>
              </p:ext>
            </p:extLst>
          </p:nvPr>
        </p:nvGraphicFramePr>
        <p:xfrm>
          <a:off x="660383" y="1634088"/>
          <a:ext cx="10502560" cy="4223482"/>
        </p:xfrm>
        <a:graphic>
          <a:graphicData uri="http://schemas.openxmlformats.org/drawingml/2006/table">
            <a:tbl>
              <a:tblPr/>
              <a:tblGrid>
                <a:gridCol w="241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27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27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3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405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27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65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88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888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88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79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32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Phase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1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2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3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4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5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6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7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8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9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10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6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Study, design, simulation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 gridSpan="1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Hardware (frame, PCB)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Firmware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243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3824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ML: dataset, training, testing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8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Payload(camera, thermal, video)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E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E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Integration and testing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8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8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000000"/>
                          </a:solidFill>
                          <a:latin typeface="Gentium Book Plus" pitchFamily="34" charset="0"/>
                          <a:ea typeface="Gentium Book Plus" pitchFamily="34" charset="-122"/>
                          <a:cs typeface="Gentium Book Plus" pitchFamily="34" charset="-120"/>
                        </a:rPr>
                        <a:t>Report and demo</a:t>
                      </a: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Gentium Book Plus" charset="0"/>
                        <a:ea typeface="Gentium Book Plus" charset="0"/>
                        <a:cs typeface="Gentium Book Plus" charset="0"/>
                      </a:endParaRPr>
                    </a:p>
                  </a:txBody>
                  <a:tcPr marL="156284" marR="156284" marT="83351" marB="83351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C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0383" y="6036609"/>
            <a:ext cx="10870928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b="1" kern="100" spc="16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Milestones:</a:t>
            </a:r>
            <a:r>
              <a:rPr lang="en-US" sz="1650" kern="100" spc="16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Week 2 – Design freeze | Week 4 – Boards ready | Week 7 – First trained model | Week 8 – First flight | Week 10 – Final testing and demo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36799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Text 1"/>
          <p:cNvSpPr/>
          <p:nvPr/>
        </p:nvSpPr>
        <p:spPr>
          <a:xfrm>
            <a:off x="330192" y="595074"/>
            <a:ext cx="1153131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100" spc="-30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Final Deliverables, Format, Risks and Budget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9393" y="1835122"/>
            <a:ext cx="3505112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38243D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Final output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9393" y="2375495"/>
            <a:ext cx="3505112" cy="204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Working drone prototype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Custom flight controller and motor driver PCBs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Trained ML model with dataset and accuracy report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Test report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63898" y="1536799"/>
            <a:ext cx="4063898" cy="378430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343291" y="1835122"/>
            <a:ext cx="3505112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Final format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43291" y="2375495"/>
            <a:ext cx="3505112" cy="1727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Project report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Demo video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Design files and code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Live demo: hover and person detection; poster; final slides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07190" y="1835122"/>
            <a:ext cx="3505112" cy="34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00" b="1" kern="100" spc="-26" dirty="0">
                <a:solidFill>
                  <a:srgbClr val="38243D"/>
                </a:solidFill>
                <a:latin typeface="Times New Roman" panose="02020603050405020304" pitchFamily="18" charset="0"/>
                <a:ea typeface="Cormorant Garamond Bold" pitchFamily="34" charset="-122"/>
                <a:cs typeface="Times New Roman" panose="02020603050405020304" pitchFamily="18" charset="0"/>
              </a:rPr>
              <a:t>Risk → Solution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07190" y="2375495"/>
            <a:ext cx="3505112" cy="266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PCB error → simulation and design review first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Motor heating → protection circuit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Crash → tethered test, spare parts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Low accuracy or slow model → smaller model, more data, thermal images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5321102"/>
            <a:ext cx="12191695" cy="1536898"/>
          </a:xfrm>
          <a:prstGeom prst="rect">
            <a:avLst/>
          </a:prstGeom>
          <a:solidFill>
            <a:srgbClr val="FA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253994" y="5733979"/>
            <a:ext cx="11683708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kern="100" spc="17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Estimated Total Budget:</a:t>
            </a:r>
            <a:r>
              <a:rPr lang="en-US" sz="1700" kern="100" spc="17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৳10,000–৳10,500 BDT, covering the frame, motors, battery, PCBs, sensors, companion computer, and spare parts.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4298"/>
          </a:xfrm>
          <a:prstGeom prst="rect">
            <a:avLst/>
          </a:prstGeom>
          <a:solidFill>
            <a:srgbClr val="2924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9848"/>
            <a:ext cx="12191695" cy="44450"/>
          </a:xfrm>
          <a:prstGeom prst="rect">
            <a:avLst/>
          </a:prstGeom>
          <a:solidFill>
            <a:srgbClr val="38243D"/>
          </a:solidFill>
          <a:ln/>
        </p:spPr>
      </p:sp>
      <p:sp>
        <p:nvSpPr>
          <p:cNvPr id="4" name="Text 2"/>
          <p:cNvSpPr/>
          <p:nvPr/>
        </p:nvSpPr>
        <p:spPr>
          <a:xfrm>
            <a:off x="253994" y="280924"/>
            <a:ext cx="11683708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FFFFFF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Conclusion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189" y="1384399"/>
            <a:ext cx="11277318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Problem: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slow and risky search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Context: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control theory and machine learning on real hardware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Contribution: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custom flight controller, motor driver and ML-based detection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Plan: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10 weeks, 8 members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</a:rPr>
              <a:t>Outcome:</a:t>
            </a: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 low-cost, customizable rescue drone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494" y="3379491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29242D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Explore Our Project on GitHub ↗ → </a:t>
            </a:r>
            <a:r>
              <a:rPr lang="en-US" sz="1700" b="1" u="sng" dirty="0">
                <a:latin typeface="Times New Roman" panose="02020603050405020304" pitchFamily="18" charset="0"/>
                <a:ea typeface="Gentium Book Plus Bold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Project on GitHub ↗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002286"/>
            <a:ext cx="12191695" cy="6350"/>
          </a:xfrm>
          <a:prstGeom prst="rect">
            <a:avLst/>
          </a:prstGeom>
          <a:solidFill>
            <a:srgbClr val="CFC3D6"/>
          </a:solidFill>
          <a:ln/>
        </p:spPr>
      </p:sp>
      <p:sp>
        <p:nvSpPr>
          <p:cNvPr id="8" name="Text 6"/>
          <p:cNvSpPr/>
          <p:nvPr/>
        </p:nvSpPr>
        <p:spPr>
          <a:xfrm>
            <a:off x="228594" y="4258572"/>
            <a:ext cx="11734506" cy="75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200" kern="100" spc="-62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Thank you. Questions?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594" y="5210608"/>
            <a:ext cx="11734506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000000"/>
                </a:solidFill>
                <a:latin typeface="Times New Roman" panose="02020603050405020304" pitchFamily="18" charset="0"/>
                <a:ea typeface="Cormorant Garamond Medium" pitchFamily="34" charset="-122"/>
                <a:cs typeface="Times New Roman" panose="02020603050405020304" pitchFamily="18" charset="0"/>
              </a:rPr>
              <a:t>What success looks like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594" y="5904131"/>
            <a:ext cx="1196310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Gentium Book Plus" pitchFamily="34" charset="-122"/>
                <a:cs typeface="Times New Roman" panose="02020603050405020304" pitchFamily="18" charset="0"/>
              </a:rPr>
              <a:t>Working prototype, reproducible design files and a measurable detection pipeline.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8243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1096</Words>
  <Application>Microsoft Office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Gentium Book Plus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lastModifiedBy>tanzim.ahamed.bd@gmail.com</cp:lastModifiedBy>
  <cp:revision>7</cp:revision>
  <dcterms:created xsi:type="dcterms:W3CDTF">2026-10-12T12:46:47Z</dcterms:created>
  <dcterms:modified xsi:type="dcterms:W3CDTF">2026-10-12T14:22:52Z</dcterms:modified>
</cp:coreProperties>
</file>